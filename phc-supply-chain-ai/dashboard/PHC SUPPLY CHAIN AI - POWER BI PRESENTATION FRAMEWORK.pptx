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0" d="100"/>
          <a:sy n="70" d="100"/>
        </p:scale>
        <p:origin x="33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62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07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7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21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54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97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65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32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1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9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828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080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789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987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92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7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6028C-BC1A-48D0-9094-D580F03FC40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AFD3C-039C-4C02-99E3-2AB188DA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920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091C-423A-46B0-793E-9F1718DD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1945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1600" dirty="0"/>
              <a:t>AI-DRIVEN PHC SUPPLY CHAIN OPTIMIZATION</a:t>
            </a:r>
            <a:br>
              <a:rPr lang="en-US" sz="1600" dirty="0"/>
            </a:br>
            <a:r>
              <a:rPr lang="en-US" sz="1600" dirty="0"/>
              <a:t>From Reactive to Predictive: Preventing Stockouts, Minimizing Wastage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C4FD8-C120-616C-EDF5-0866471D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latinLnBrk="1"/>
            <a:r>
              <a:rPr lang="en-IN" sz="1800" dirty="0"/>
              <a:t>⚡ Business Impact:</a:t>
            </a:r>
          </a:p>
          <a:p>
            <a:pPr latinLnBrk="1"/>
            <a:r>
              <a:rPr lang="en-IN" sz="1800" dirty="0"/>
              <a:t>• 40-73% forecasting accuracy achieved (beats 25-40% industry benchmark)</a:t>
            </a:r>
          </a:p>
          <a:p>
            <a:pPr latinLnBrk="1"/>
            <a:r>
              <a:rPr lang="en-IN" sz="1800" dirty="0"/>
              <a:t>• 11/12 SKUs now have proactive reorder triggers</a:t>
            </a:r>
          </a:p>
          <a:p>
            <a:pPr latinLnBrk="1"/>
            <a:r>
              <a:rPr lang="en-IN" sz="1800" dirty="0"/>
              <a:t>• 16.7% of Vital medicines identified at stockout risk (&lt;7 days coverage)</a:t>
            </a:r>
          </a:p>
          <a:p>
            <a:pPr latinLnBrk="1"/>
            <a:r>
              <a:rPr lang="en-IN" sz="1800" dirty="0"/>
              <a:t>• ₹10.6M financial value protected from expiry risk</a:t>
            </a:r>
          </a:p>
          <a:p>
            <a:pPr latinLnBrk="1"/>
            <a:endParaRPr lang="en-IN" sz="1800" dirty="0"/>
          </a:p>
          <a:p>
            <a:pPr latinLnBrk="1"/>
            <a:r>
              <a:rPr lang="en-IN" sz="1800" dirty="0"/>
              <a:t>🛡️ NHSRC Compliance: VED-FSN-FEFO Framework Fully Implemented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54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F89D-D282-8921-A23D-C60AABA8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/>
              <a:t>Current PHC Supply Chain Challenges: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F9F4-8632-0A6A-4AE2-768F07815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REACTIVE STOCK MANAGEMENT</a:t>
            </a:r>
          </a:p>
          <a:p>
            <a:pPr latinLnBrk="1"/>
            <a:r>
              <a:rPr lang="en-IN" dirty="0"/>
              <a:t>2. EXPIRY WASTAGE</a:t>
            </a:r>
          </a:p>
          <a:p>
            <a:r>
              <a:rPr lang="en-IN" dirty="0"/>
              <a:t>3. MANUAL, ERROR-PRONE PROCESSES</a:t>
            </a:r>
          </a:p>
          <a:p>
            <a:r>
              <a:rPr lang="en-US" dirty="0"/>
              <a:t>Data Reality: 56.5% of total consumption from Vital category medicines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8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E093-2697-1DC1-244F-F055CB3E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REACTIVE STOCK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7E08-9AC0-18DE-0B6D-3E96B5CF0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en-US" dirty="0"/>
              <a:t> • Stockouts discovered only when medicine cabinet is empty</a:t>
            </a:r>
          </a:p>
          <a:p>
            <a:pPr marL="0" indent="0" latinLnBrk="1">
              <a:buNone/>
            </a:pPr>
            <a:r>
              <a:rPr lang="en-US" dirty="0"/>
              <a:t> • Emergency procurement delays (3-7 days for Vital drugs)</a:t>
            </a:r>
          </a:p>
          <a:p>
            <a:pPr marL="0" indent="0" latinLnBrk="1">
              <a:buNone/>
            </a:pPr>
            <a:r>
              <a:rPr lang="en-US" dirty="0"/>
              <a:t> • Patient treatment interruptions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83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7A37-BADF-9517-52CF-AB83EC44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EXPIRY WASTAGE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7867-CC47-5536-39D9-519E40C29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en-US" dirty="0"/>
              <a:t> • ₹10-15M annual losses per district from expired medicines</a:t>
            </a:r>
          </a:p>
          <a:p>
            <a:pPr marL="0" indent="0" latinLnBrk="1">
              <a:buNone/>
            </a:pPr>
            <a:r>
              <a:rPr lang="en-US" dirty="0"/>
              <a:t> • No FEFO (First-Expiry-First-Out) enforcement</a:t>
            </a:r>
          </a:p>
          <a:p>
            <a:pPr marL="0" indent="0" latinLnBrk="1">
              <a:buNone/>
            </a:pPr>
            <a:r>
              <a:rPr lang="en-US" dirty="0"/>
              <a:t> • Critical medicines discarded unused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74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567E-5168-360A-9E06-3579CCF3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MANUAL, ERROR-PRONE PROCESSES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3887-6599-B859-A9F9-588A57A2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en-US" dirty="0"/>
              <a:t> • Excel-based inventory tracking</a:t>
            </a:r>
          </a:p>
          <a:p>
            <a:pPr marL="0" indent="0" latinLnBrk="1">
              <a:buNone/>
            </a:pPr>
            <a:r>
              <a:rPr lang="en-US" dirty="0"/>
              <a:t> • No demand forecasting</a:t>
            </a:r>
          </a:p>
          <a:p>
            <a:pPr marL="0" indent="0" latinLnBrk="1">
              <a:buNone/>
            </a:pPr>
            <a:r>
              <a:rPr lang="en-US" dirty="0"/>
              <a:t> • No early warning system</a:t>
            </a:r>
          </a:p>
          <a:p>
            <a:pPr marL="0" indent="0" latinLnBrk="1">
              <a:buNone/>
            </a:pPr>
            <a:r>
              <a:rPr lang="en-US" dirty="0"/>
              <a:t> • Overstock of Desirable, understock of Vital items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89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8A95-DC3E-49A0-9AAB-1D2404A3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0DEA9-DD0B-7BD1-E858-37D2505BE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1: DATA ENGINEERING PIPELINE</a:t>
            </a:r>
          </a:p>
          <a:p>
            <a:r>
              <a:rPr lang="en-US" dirty="0"/>
              <a:t>LAYER 2: AI FORECASTING ENGINE  </a:t>
            </a:r>
          </a:p>
          <a:p>
            <a:r>
              <a:rPr lang="en-IN" dirty="0"/>
              <a:t>LAYER 3: NHSRC DECISION LOGIC</a:t>
            </a:r>
          </a:p>
          <a:p>
            <a:r>
              <a:rPr lang="en-IN" dirty="0"/>
              <a:t>LAYER 4: OPERATIONAL ESCALATION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2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40E0-A9A3-E8B3-C5C5-F06CA8BE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E679-8EDA-A08B-46E9-4EF34DEB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• Raw inventory → Cleaned, standardized data</a:t>
            </a:r>
          </a:p>
          <a:p>
            <a:pPr latinLnBrk="1"/>
            <a:r>
              <a:rPr lang="en-US" dirty="0"/>
              <a:t>• NHSRC metrics: ADC, Safety Stock, ROL, MSL</a:t>
            </a:r>
          </a:p>
          <a:p>
            <a:pPr latinLnBrk="1"/>
            <a:r>
              <a:rPr lang="en-US" dirty="0"/>
              <a:t>• Feature engineering: 37 forecasting-ready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4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1C94-0CA1-C2CE-208D-BF51C03D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FORECASTING ENGINE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7B99-C25D-BD07-45A4-5A7BD64CF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• Multi-model benchmarking (Naive, MA, ETS)</a:t>
            </a:r>
          </a:p>
          <a:p>
            <a:pPr latinLnBrk="1"/>
            <a:r>
              <a:rPr lang="en-US" dirty="0"/>
              <a:t>• SKU-level model selection (best MAPE wins)</a:t>
            </a:r>
          </a:p>
          <a:p>
            <a:pPr latinLnBrk="1"/>
            <a:r>
              <a:rPr lang="en-US" dirty="0"/>
              <a:t>• 14-day demand predictions with confidence scoring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06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BA9C-64E1-9C95-AD01-D047559D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NHSRC DECISION LOGIC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4A5BE-6EC8-E950-531B-2C28996E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IN" dirty="0"/>
              <a:t>• VED priority management (Vital &gt; Essential &gt; Desirable)</a:t>
            </a:r>
          </a:p>
          <a:p>
            <a:pPr latinLnBrk="1"/>
            <a:r>
              <a:rPr lang="en-IN" dirty="0"/>
              <a:t>• FSN velocity analysis (Fast &gt; Slow &gt; Non-moving)</a:t>
            </a:r>
          </a:p>
          <a:p>
            <a:pPr latinLnBrk="1"/>
            <a:r>
              <a:rPr lang="en-IN" dirty="0"/>
              <a:t>• FEFO expiry optimization</a:t>
            </a:r>
          </a:p>
          <a:p>
            <a:pPr latinLnBrk="1"/>
            <a:r>
              <a:rPr lang="en-IN" dirty="0"/>
              <a:t>• Safety stock calculation per NHSRC guidelines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46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5177-8D22-DDCD-1D12-9629DF19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ESCALATION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1DA6F-2BF2-251A-2070-F83AA38FB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• Action priority scoring (1-5)</a:t>
            </a:r>
          </a:p>
          <a:p>
            <a:pPr latinLnBrk="1"/>
            <a:r>
              <a:rPr lang="en-US" dirty="0"/>
              <a:t>• Responsibility assignment (SCM Officer → Pharmacist)</a:t>
            </a:r>
          </a:p>
          <a:p>
            <a:pPr latinLnBrk="1"/>
            <a:r>
              <a:rPr lang="en-US" dirty="0"/>
              <a:t>• Time-bound deadlines (24h → 7 days)</a:t>
            </a:r>
          </a:p>
          <a:p>
            <a:pPr latinLnBrk="1"/>
            <a:r>
              <a:rPr lang="en-US" dirty="0"/>
              <a:t>• Dashboard-ready JSON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98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221B-DC3A-69B6-9D34-7A212473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KPIs - WHAT WE MEASURE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7BAB6-EAFA-964E-BFD1-6735DF099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STOCKOUT RISK INDEX</a:t>
            </a:r>
          </a:p>
          <a:p>
            <a:r>
              <a:rPr lang="en-IN" dirty="0"/>
              <a:t>2. EXPIRY RISK METRICS</a:t>
            </a:r>
          </a:p>
          <a:p>
            <a:r>
              <a:rPr lang="en-IN" dirty="0"/>
              <a:t>3. FORECASTING CONFIDENCE</a:t>
            </a:r>
          </a:p>
          <a:p>
            <a:r>
              <a:rPr lang="en-IN" dirty="0"/>
              <a:t>4. PROCUREMENT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99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9F12-CD0A-4057-27FD-2755D3A1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STOCKOUT RISK INDEX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E511-C02F-6A1E-605F-34DB7D38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   • Vital SKUs with &lt;7 days coverage</a:t>
            </a:r>
          </a:p>
          <a:p>
            <a:pPr latinLnBrk="1"/>
            <a:r>
              <a:rPr lang="en-US" dirty="0"/>
              <a:t>   • Expected stockout days in next 14 days</a:t>
            </a:r>
          </a:p>
          <a:p>
            <a:pPr latinLnBrk="1"/>
            <a:r>
              <a:rPr lang="en-US" dirty="0"/>
              <a:t>   • Coverage gap vs minimum requirement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570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F4E0-85CD-1838-D6FE-93B8F59C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EXPIRY RISK METRICS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034B1-85D9-E175-E579-39EE7F27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   • Batches in CRITICAL (&lt;30d) expiry zone</a:t>
            </a:r>
          </a:p>
          <a:p>
            <a:pPr latinLnBrk="1"/>
            <a:r>
              <a:rPr lang="en-US" dirty="0"/>
              <a:t>   • Financial value at risk (₹)</a:t>
            </a:r>
          </a:p>
          <a:p>
            <a:pPr latinLnBrk="1"/>
            <a:r>
              <a:rPr lang="en-US" dirty="0"/>
              <a:t>   • Redistribution opportunities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639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83D6-A412-0C2B-FE4C-C7659631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FORECASTING CONFIDENCE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046B-C3F7-4B10-E657-DC0F919ED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   • Model MAPE scores (14-15% achieved)</a:t>
            </a:r>
          </a:p>
          <a:p>
            <a:pPr latinLnBrk="1"/>
            <a:r>
              <a:rPr lang="en-US" dirty="0"/>
              <a:t>   • SKUs with HIGH confidence forecasts</a:t>
            </a:r>
          </a:p>
          <a:p>
            <a:pPr latinLnBrk="1"/>
            <a:r>
              <a:rPr lang="en-US" dirty="0"/>
              <a:t>   • Demand volatility coefficient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679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868C-759C-B280-BF3D-31703F06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PROCUREMENT EFFICIENCY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F073-06A1-A50D-D4C7-672C058D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   • SKUs below Reorder Level (ROL)</a:t>
            </a:r>
          </a:p>
          <a:p>
            <a:pPr latinLnBrk="1"/>
            <a:r>
              <a:rPr lang="en-US" dirty="0"/>
              <a:t>   • Recommended order quantities</a:t>
            </a:r>
          </a:p>
          <a:p>
            <a:pPr latinLnBrk="1"/>
            <a:r>
              <a:rPr lang="en-US" dirty="0"/>
              <a:t>   • Cost of proposed procurement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79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38758-31B2-6357-FC47-EB26E709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302832"/>
            <a:ext cx="9905998" cy="568025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DASHBOARD STRUCTURE: "PHC COMMAND CENTER"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BA8D8-8027-2294-3C39-8D827E84C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197429"/>
            <a:ext cx="4878389" cy="4593771"/>
          </a:xfrm>
        </p:spPr>
        <p:txBody>
          <a:bodyPr>
            <a:normAutofit fontScale="32500" lnSpcReduction="20000"/>
          </a:bodyPr>
          <a:lstStyle/>
          <a:p>
            <a:pPr latinLnBrk="1"/>
            <a:r>
              <a:rPr lang="en-IN" sz="4800" b="1" dirty="0">
                <a:solidFill>
                  <a:schemeClr val="bg1"/>
                </a:solidFill>
              </a:rPr>
              <a:t>TIER 1: EXECUTIVE OVERVIEW (Top Section)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4 KPI Cards: Emergency SKUs | Vital Below Min | Expiry Risk | Total Monitored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Trend Line: Forecast vs Actual consumption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Alert Ticker: Live JSON alerts from system</a:t>
            </a:r>
          </a:p>
          <a:p>
            <a:pPr latinLnBrk="1"/>
            <a:r>
              <a:rPr lang="en-IN" sz="4800" b="1" dirty="0">
                <a:solidFill>
                  <a:schemeClr val="bg1"/>
                </a:solidFill>
              </a:rPr>
              <a:t>TIER 2: OPERATIONAL DECISION BOARD (Middle Section)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Priority Matrix Table: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  SKU | Category | Days Cover | Action | Deadline | Responsible Person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Colour coding: 🔴 Emergency | 🟠 Urgent | 🟡 Watch | 🟢 Healthy</a:t>
            </a:r>
          </a:p>
          <a:p>
            <a:pPr latinLnBrk="1"/>
            <a:r>
              <a:rPr lang="en-IN" sz="4800" dirty="0">
                <a:solidFill>
                  <a:schemeClr val="bg1"/>
                </a:solidFill>
              </a:rPr>
              <a:t>• Click-through to SKU detail view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509C9-8AF4-8567-175B-CEEC7DE60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97430"/>
            <a:ext cx="5856514" cy="5225142"/>
          </a:xfrm>
        </p:spPr>
        <p:txBody>
          <a:bodyPr>
            <a:normAutofit fontScale="32500" lnSpcReduction="20000"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TIER 3: ANALYTICAL INSIGHTS (Bottom Section)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VED × Expiry Risk Heatmap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FSN Movement Analysis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Scenario Simulation Toggle (Base vs Outbreak vs Supply Delay)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Cost-Benefit Analysis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INTERACTIVITY: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Slicers: VED Category, FSN Movement, Resilience Band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Drill-through: SKU → Ward → Batch level</a:t>
            </a:r>
          </a:p>
          <a:p>
            <a:pPr marL="228600" marR="0" lvl="0" indent="-2286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Export: PDF reports for SCM meetings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709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E04E-9A2B-80D1-FD47-223D7403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AFCE-4871-91BC-7C59-E05C42AA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714"/>
            <a:ext cx="9905998" cy="524482"/>
          </a:xfrm>
        </p:spPr>
        <p:txBody>
          <a:bodyPr>
            <a:normAutofit/>
          </a:bodyPr>
          <a:lstStyle/>
          <a:p>
            <a:pPr latinLnBrk="1"/>
            <a:r>
              <a:rPr lang="en-US" sz="1800" dirty="0">
                <a:solidFill>
                  <a:schemeClr val="bg1"/>
                </a:solidFill>
              </a:rPr>
              <a:t>VALIDATION FRAMEWORK - HOW WE MEASURE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1715-40FB-6A3F-75FB-912532A1E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870857"/>
            <a:ext cx="5030790" cy="5769427"/>
          </a:xfrm>
        </p:spPr>
        <p:txBody>
          <a:bodyPr>
            <a:noAutofit/>
          </a:bodyPr>
          <a:lstStyle/>
          <a:p>
            <a:pPr latinLnBrk="1"/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1. FORECAST ACCURACY (MAPE)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Baseline: Naive model = 40-50% MAPE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Target: &lt;25% MAPE (Achieved: 14-15%)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Business Impact: Better demand prediction = fewer stockouts</a:t>
            </a:r>
          </a:p>
          <a:p>
            <a:pPr latinLnBrk="1"/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2. STOCKOUT REDUCTION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Metric: Days of cover for Vital medicines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Target: All Vital &gt; 7 days cover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Current: 4/12 Vital SKUs below minimum</a:t>
            </a:r>
          </a:p>
          <a:p>
            <a:pPr latinLnBrk="1"/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3. EXPIRY WASTAGE REDUCTION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Metric: Batches in CRITICAL expiry zone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Target: &lt;5% of batches in &lt;30d zone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• Current: 337 batches flagged for immediate action</a:t>
            </a:r>
          </a:p>
          <a:p>
            <a:pPr latinLnBrk="1"/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• Achieved: All 12 SKUs correctly categorized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50542-C07C-74D7-4CDD-3610247EB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70857"/>
            <a:ext cx="5442857" cy="5769429"/>
          </a:xfrm>
        </p:spPr>
        <p:txBody>
          <a:bodyPr>
            <a:normAutofit/>
          </a:bodyPr>
          <a:lstStyle/>
          <a:p>
            <a:pPr latinLnBrk="1"/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4. DECISION ACCELERATION</a:t>
            </a:r>
          </a:p>
          <a:p>
            <a:pPr latinLnBrk="1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• Metric: Time from detection to action</a:t>
            </a:r>
          </a:p>
          <a:p>
            <a:pPr latinLnBrk="1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• Target: &lt;24h for Emergency, &lt;7d for all</a:t>
            </a:r>
          </a:p>
          <a:p>
            <a:pPr latinLnBrk="1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• Achieved: Automated escalation with deadlines</a:t>
            </a:r>
          </a:p>
          <a:p>
            <a:pPr latinLnBrk="1"/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5. NHSRC COMPLIANCE</a:t>
            </a:r>
          </a:p>
          <a:p>
            <a:pPr latinLnBrk="1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• Metric: % of SKUs with proper VED/FSN classification</a:t>
            </a:r>
          </a:p>
          <a:p>
            <a:pPr latinLnBrk="1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• Target: 100% compliance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173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D757-E538-DD9A-C213-FBC6922C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81FE-9F46-3470-98CE-9C2BEC8A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68147"/>
            <a:ext cx="9905998" cy="698653"/>
          </a:xfrm>
        </p:spPr>
        <p:txBody>
          <a:bodyPr>
            <a:norm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Menlo"/>
              </a:rPr>
              <a:t>SCENARIO SIMULATION MODULE</a:t>
            </a:r>
            <a:br>
              <a:rPr lang="en-US" sz="1600" b="0" dirty="0">
                <a:solidFill>
                  <a:schemeClr val="bg1"/>
                </a:solidFill>
                <a:effectLst/>
                <a:latin typeface="Menlo"/>
              </a:rPr>
            </a:br>
            <a:r>
              <a:rPr lang="en-US" sz="1600" b="0" dirty="0">
                <a:solidFill>
                  <a:schemeClr val="bg1"/>
                </a:solidFill>
                <a:effectLst/>
                <a:latin typeface="Menlo"/>
              </a:rPr>
              <a:t>Toggle between scenarios to test resilience: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473E-CDD8-2F52-7A28-4359D9FB1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4582" y="1433056"/>
            <a:ext cx="5161418" cy="5261657"/>
          </a:xfrm>
        </p:spPr>
        <p:txBody>
          <a:bodyPr>
            <a:noAutofit/>
          </a:bodyPr>
          <a:lstStyle/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1️⃣ BASE SCENARIO (Normal Operations)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• Demand: 1.0× forecast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1.0× normal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5 Emergency, 7 Risky SKUs</a:t>
            </a:r>
          </a:p>
          <a:p>
            <a:pPr algn="l" latinLnBrk="1">
              <a:lnSpc>
                <a:spcPct val="10000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2️⃣ OUTBREAK SCENARIO (Epidemic Surge)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Demand: 1.8× forecast (+80%)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1.0× normal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8 Emergency, 4 Risky SKUs</a:t>
            </a:r>
          </a:p>
          <a:p>
            <a:pPr algn="l" latinLnBrk="1">
              <a:lnSpc>
                <a:spcPct val="10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Action: Trigger emergency buffer protocols</a:t>
            </a:r>
          </a:p>
          <a:p>
            <a:pPr algn="l" latinLnBrk="1">
              <a:lnSpc>
                <a:spcPts val="165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IN" sz="1600" dirty="0">
              <a:solidFill>
                <a:schemeClr val="bg1"/>
              </a:solidFill>
              <a:latin typeface="Menlo"/>
            </a:endParaRPr>
          </a:p>
          <a:p>
            <a:pPr latinLnBrk="1">
              <a:lnSpc>
                <a:spcPts val="165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Business Value: Proactive contingency planning before crisis hits</a:t>
            </a: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27F9-4ED2-18FA-190A-E9F9BEF47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8847" y="1066800"/>
            <a:ext cx="4875211" cy="5359625"/>
          </a:xfrm>
        </p:spPr>
        <p:txBody>
          <a:bodyPr>
            <a:normAutofit/>
          </a:bodyPr>
          <a:lstStyle/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3️⃣ SUPPLY DELAY SCENARIO (Transport Disruption)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Demand: 1.1× forecast (+10%)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Lead time: 1.6× normal (+60%)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Result: 7 Emergency, 5 Risky SKUs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Action: Redistribute from nearby PHCs</a:t>
            </a:r>
          </a:p>
          <a:p>
            <a:pPr latinLnBrk="1">
              <a:buNone/>
            </a:pPr>
            <a:endParaRPr lang="en-IN" sz="1600" dirty="0">
              <a:solidFill>
                <a:schemeClr val="bg1"/>
              </a:solidFill>
              <a:latin typeface="Menlo"/>
            </a:endParaRP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4️⃣ WORST-CASE SCENARIO (Catastrophic)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Demand: 2.5× forecast (+150%)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Lead time: 2.0× normal (+100%)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Result: 10 Emergency, 2 Risky SKUs</a:t>
            </a:r>
          </a:p>
          <a:p>
            <a:pPr latinLnBrk="1">
              <a:buNone/>
            </a:pPr>
            <a:r>
              <a:rPr lang="en-IN" sz="1600" dirty="0">
                <a:solidFill>
                  <a:schemeClr val="bg1"/>
                </a:solidFill>
                <a:latin typeface="Menlo"/>
              </a:rPr>
              <a:t>   • Action: State-level emergency procurement</a:t>
            </a:r>
          </a:p>
          <a:p>
            <a:pPr latinLnBrk="1">
              <a:buNone/>
            </a:pPr>
            <a:endParaRPr lang="en-IN" dirty="0">
              <a:solidFill>
                <a:srgbClr val="F9FAFB"/>
              </a:solidFill>
              <a:latin typeface="Menlo"/>
            </a:endParaRPr>
          </a:p>
          <a:p>
            <a:pPr latinLnBrk="1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58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53785A-08F8-94F2-D6D8-CFD7EBA0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5" y="259289"/>
            <a:ext cx="9905998" cy="589797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SCENARIO SIMULATION MODULE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Toggle between scenarios to test resilience: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8B3C63-8756-833F-CD6C-3343B1B9B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175657"/>
            <a:ext cx="4954590" cy="5562600"/>
          </a:xfrm>
        </p:spPr>
        <p:txBody>
          <a:bodyPr/>
          <a:lstStyle/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1️⃣ BASE SCENARIO (Normal Operations)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Demand: 1.0× forecast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1.0× normal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5 Emergency, 7 Risky SKUs</a:t>
            </a:r>
          </a:p>
          <a:p>
            <a:pPr algn="l" latinLnBrk="1">
              <a:lnSpc>
                <a:spcPts val="165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2️⃣ OUTBREAK SCENARIO (Epidemic Surge)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Demand: 1.8× forecast (+80%)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1.0× normal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8 Emergency, 4 Risky SKUs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Action: Trigger emergency buffer protocols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5A8D1-DACC-8AAA-92BC-54F5732AC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5657"/>
            <a:ext cx="5279571" cy="5562600"/>
          </a:xfrm>
        </p:spPr>
        <p:txBody>
          <a:bodyPr/>
          <a:lstStyle/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3️⃣ SUPPLY DELAY SCENARIO (Transport Disruption)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Demand: 1.1× forecast (+10%)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1.6× normal (+60%)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7 Emergency, 5 Risky SKUs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Action: Redistribute from nearby PHCs</a:t>
            </a:r>
          </a:p>
          <a:p>
            <a:pPr algn="l" latinLnBrk="1">
              <a:lnSpc>
                <a:spcPts val="165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4️⃣ WORST-CASE SCENARIO (Catastrophic)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Demand: 2.5× forecast (+150%)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Lead time: 2.0× normal (+100%)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Result: 10 Emergency, 2 Risky SKUs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   • Action: State-level emergency procurement</a:t>
            </a:r>
          </a:p>
          <a:p>
            <a:pPr algn="l" latinLnBrk="1">
              <a:lnSpc>
                <a:spcPts val="1650"/>
              </a:lnSpc>
              <a:buNone/>
            </a:pPr>
            <a:endParaRPr lang="en-IN" sz="16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Menlo"/>
              </a:rPr>
              <a:t>🎯 Business Value: Proactive contingency planning before crisis hits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457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34D5-D934-087E-652A-8BA9987DF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5" y="237518"/>
            <a:ext cx="9905998" cy="655111"/>
          </a:xfrm>
        </p:spPr>
        <p:txBody>
          <a:bodyPr/>
          <a:lstStyle/>
          <a:p>
            <a:pPr latinLnBrk="1">
              <a:lnSpc>
                <a:spcPts val="1650"/>
              </a:lnSpc>
            </a:pPr>
            <a:r>
              <a:rPr lang="en-IN" sz="2400" b="0" dirty="0">
                <a:solidFill>
                  <a:schemeClr val="bg1"/>
                </a:solidFill>
                <a:effectLst/>
                <a:latin typeface="Menlo"/>
              </a:rPr>
              <a:t>WHO BENEFITS &amp; HOW</a:t>
            </a:r>
            <a:r>
              <a:rPr lang="en-IN" b="0" dirty="0">
                <a:solidFill>
                  <a:srgbClr val="F9FAFB"/>
                </a:solidFill>
                <a:effectLst/>
                <a:latin typeface="Menlo"/>
              </a:rPr>
              <a:t>:</a:t>
            </a:r>
            <a:br>
              <a:rPr lang="en-IN" b="0" dirty="0">
                <a:solidFill>
                  <a:srgbClr val="F9FAFB"/>
                </a:solidFill>
                <a:effectLst/>
                <a:latin typeface="Menlo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7411-AB3B-0F8C-43E5-BA4E756E5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892629"/>
            <a:ext cx="4878389" cy="5540828"/>
          </a:xfrm>
        </p:spPr>
        <p:txBody>
          <a:bodyPr>
            <a:normAutofit fontScale="55000" lnSpcReduction="20000"/>
          </a:bodyPr>
          <a:lstStyle/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1. PHC MEDICAL OFFICER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No treatment interruptions due to stockouts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Confidence in medicine availability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Reduced administrative burden</a:t>
            </a:r>
          </a:p>
          <a:p>
            <a:pPr algn="l" latinLnBrk="1">
              <a:buNone/>
            </a:pPr>
            <a:endParaRPr lang="en-US" sz="25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2. DISTRICT SCM OFFICER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Real-time visibility across all PHCs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Data-driven procurement decisions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Reduced wastage (₹ savings)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NHSRC compliance reporting automated</a:t>
            </a:r>
          </a:p>
          <a:p>
            <a:pPr algn="l" latinLnBrk="1">
              <a:buNone/>
            </a:pPr>
            <a:endParaRPr lang="en-US" sz="2500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3. PHC PHARMACIST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Clear daily action list (what to reorder, what to use first)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Expiry alerts with redistribution suggestions</a:t>
            </a:r>
          </a:p>
          <a:p>
            <a:pPr algn="l" latinLnBrk="1">
              <a:buNone/>
            </a:pPr>
            <a:r>
              <a:rPr lang="en-US" sz="2500" b="0" dirty="0">
                <a:solidFill>
                  <a:schemeClr val="bg1"/>
                </a:solidFill>
                <a:effectLst/>
                <a:latin typeface="Menlo"/>
              </a:rPr>
              <a:t>   • Reduced manual counting/checking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DF393-629C-7A26-0FEA-71B4DD025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92629"/>
            <a:ext cx="4875211" cy="5279571"/>
          </a:xfrm>
        </p:spPr>
        <p:txBody>
          <a:bodyPr>
            <a:normAutofit fontScale="55000" lnSpcReduction="20000"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4. STATE HEALTH DEPARTMENT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   • Aggregate analytics across districts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   • Budget optimization (prioritize Vital medicines)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   • Pandemic/outbreak preparedness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   • Audit trail for all decisions</a:t>
            </a:r>
          </a:p>
          <a:p>
            <a:pPr algn="l" latinLnBrk="1">
              <a:lnSpc>
                <a:spcPts val="1650"/>
              </a:lnSpc>
              <a:buNone/>
            </a:pPr>
            <a:endParaRPr lang="en-IN" b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 ROI CALCULATION: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30% reduction in expiry wastage = ₹3M savings per district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50% reduction in emergency procurement premiums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b="0" dirty="0">
                <a:solidFill>
                  <a:schemeClr val="bg1"/>
                </a:solidFill>
                <a:effectLst/>
                <a:latin typeface="Menlo"/>
              </a:rPr>
              <a:t>• 80% reduction in stockout-related treatment delays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44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112</TotalTime>
  <Words>1367</Words>
  <Application>Microsoft Office PowerPoint</Application>
  <PresentationFormat>Widescreen</PresentationFormat>
  <Paragraphs>187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Menlo</vt:lpstr>
      <vt:lpstr>Tw Cen MT</vt:lpstr>
      <vt:lpstr>Circuit</vt:lpstr>
      <vt:lpstr>AI-DRIVEN PHC SUPPLY CHAIN OPTIMIZATION From Reactive to Predictive: Preventing Stockouts, Minimizing Wastage </vt:lpstr>
      <vt:lpstr>Current PHC Supply Chain Challenges: </vt:lpstr>
      <vt:lpstr>REACTIVE STOCK MANAGEMENT </vt:lpstr>
      <vt:lpstr>EXPIRY WASTAGE </vt:lpstr>
      <vt:lpstr>MANUAL, ERROR-PRONE PROCESSES </vt:lpstr>
      <vt:lpstr>SOLUTION ARCHITECTURE </vt:lpstr>
      <vt:lpstr>DATA ENGINEERING PIPELINE</vt:lpstr>
      <vt:lpstr>AI FORECASTING ENGINE</vt:lpstr>
      <vt:lpstr>NHSRC DECISION LOGIC </vt:lpstr>
      <vt:lpstr>OPERATIONAL ESCALATION </vt:lpstr>
      <vt:lpstr>DASHBOARD KPIs - WHAT WE MEASURE </vt:lpstr>
      <vt:lpstr>STOCKOUT RISK INDEX </vt:lpstr>
      <vt:lpstr>EXPIRY RISK METRICS </vt:lpstr>
      <vt:lpstr>FORECASTING CONFIDENCE </vt:lpstr>
      <vt:lpstr>PROCUREMENT EFFICIENCY </vt:lpstr>
      <vt:lpstr>DASHBOARD STRUCTURE: "PHC COMMAND CENTER"</vt:lpstr>
      <vt:lpstr>VALIDATION FRAMEWORK - HOW WE MEASURE SUCCESS</vt:lpstr>
      <vt:lpstr>SCENARIO SIMULATION MODULE Toggle between scenarios to test resilience:</vt:lpstr>
      <vt:lpstr>SCENARIO SIMULATION MODULE Toggle between scenarios to test resilience:</vt:lpstr>
      <vt:lpstr>WHO BENEFITS &amp; HOW: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vikrant chaudhari</dc:creator>
  <cp:lastModifiedBy>vikrant chaudhari</cp:lastModifiedBy>
  <cp:revision>1</cp:revision>
  <dcterms:created xsi:type="dcterms:W3CDTF">2025-12-08T10:34:04Z</dcterms:created>
  <dcterms:modified xsi:type="dcterms:W3CDTF">2025-12-08T12:26:23Z</dcterms:modified>
</cp:coreProperties>
</file>